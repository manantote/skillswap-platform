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-1097280"/>
            <a:ext cx="4572000" cy="4572000"/>
          </a:xfrm>
          <a:prstGeom prst="ellipse">
            <a:avLst/>
          </a:prstGeom>
          <a:solidFill>
            <a:srgbClr val="7B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2286000"/>
            <a:ext cx="3200400" cy="3200400"/>
          </a:xfrm>
          <a:prstGeom prst="ellipse">
            <a:avLst/>
          </a:prstGeom>
          <a:solidFill>
            <a:srgbClr val="5B5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914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SkillSwap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DDFF"/>
                </a:solidFill>
                <a:latin typeface="Calibri"/>
              </a:defRPr>
            </a:pPr>
            <a:r>
              <a:t>A Skill Exchange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3063240"/>
            <a:ext cx="155448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CDFF"/>
                </a:solidFill>
                <a:latin typeface="Calibri"/>
              </a:defRPr>
            </a:pPr>
            <a:r>
              <a:t>Final Year Project  •  Computer Engineering  •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CB3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63FF"/>
                </a:solidFill>
                <a:latin typeface="Calibri"/>
              </a:defRPr>
            </a:pPr>
            <a:r>
              <a:t>Manan Tote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CB3"/>
                </a:solidFill>
                <a:latin typeface="Calibri"/>
              </a:defRPr>
            </a:pPr>
            <a:r>
              <a:t>Computer Engineering  •  Final Year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Why do we need SkillSwap?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383280" cy="3200400"/>
          </a:xfrm>
          <a:prstGeom prst="roundRect">
            <a:avLst/>
          </a:prstGeom>
          <a:noFill/>
          <a:ln w="1270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3383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3383280" cy="5080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1680" y="2148840"/>
            <a:ext cx="640080" cy="640080"/>
          </a:xfrm>
          <a:prstGeom prst="ellipse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1E2E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1E2E"/>
                </a:solidFill>
                <a:latin typeface="Calibri"/>
              </a:defRPr>
            </a:pPr>
            <a:r>
              <a:t>Expensive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68"/>
                </a:solidFill>
                <a:latin typeface="Calibri"/>
              </a:defRPr>
            </a:pPr>
            <a:r>
              <a:t>Quality courses and tutors cost money.</a:t>
            </a:r>
            <a:br/>
            <a:r>
              <a:t>Many students can't afford paid platforms for every skill they need.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828800"/>
            <a:ext cx="3383280" cy="3200400"/>
          </a:xfrm>
          <a:prstGeom prst="roundRect">
            <a:avLst/>
          </a:prstGeom>
          <a:noFill/>
          <a:ln w="1270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828800"/>
            <a:ext cx="3383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383280" cy="508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0" y="2148840"/>
            <a:ext cx="640080" cy="64008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1E2E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1E2E"/>
                </a:solidFill>
                <a:latin typeface="Calibri"/>
              </a:defRPr>
            </a:pPr>
            <a:r>
              <a:t>No Discovery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29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68"/>
                </a:solidFill>
                <a:latin typeface="Calibri"/>
              </a:defRPr>
            </a:pPr>
            <a:r>
              <a:t>People have amazing skills but no structured way to find others who want to learn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828800"/>
            <a:ext cx="3383280" cy="3200400"/>
          </a:xfrm>
          <a:prstGeom prst="roundRect">
            <a:avLst/>
          </a:prstGeom>
          <a:noFill/>
          <a:ln w="12700">
            <a:solidFill>
              <a:srgbClr val="E2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55280" y="1828800"/>
            <a:ext cx="3383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182880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0" y="2148840"/>
            <a:ext cx="640080" cy="64008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1E2E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971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1E2E"/>
                </a:solidFill>
                <a:latin typeface="Calibri"/>
              </a:defRPr>
            </a:pPr>
            <a:r>
              <a:t>Lack of Peer Collaboration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429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68"/>
                </a:solidFill>
                <a:latin typeface="Calibri"/>
              </a:defRPr>
            </a:pPr>
            <a:r>
              <a:t>Students rarely get a platform for mutual teaching. Traditional systems are one-directional.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394960"/>
            <a:ext cx="7589520" cy="502920"/>
          </a:xfrm>
          <a:prstGeom prst="round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544068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B44CE"/>
                </a:solidFill>
                <a:latin typeface="Calibri"/>
              </a:defRPr>
            </a:pPr>
            <a:r>
              <a:t>⚡  SkillSwap solves these problems with a free, peer-to-peer exchange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What is SkillSwap and how does it work?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62179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What is SkillSwap?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68"/>
                </a:solidFill>
                <a:latin typeface="Calibri"/>
              </a:defRPr>
            </a:pPr>
            <a:r>
              <a:t>SkillSwap is a web-based platform that enables users to teach and learn skills from each other — completely free. Instead of paying for courses, users exchange their expertise in a collaborative peer-to-peer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✓  </a:t>
            </a:r>
            <a:r>
              <a:rPr sz="1300">
                <a:solidFill>
                  <a:srgbClr val="4A4A68"/>
                </a:solidFill>
                <a:latin typeface="Calibri"/>
              </a:rPr>
              <a:t>Register with Firebase Authentication (Email, Google, GitHub)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✓  </a:t>
            </a:r>
            <a:r>
              <a:rPr sz="1300">
                <a:solidFill>
                  <a:srgbClr val="4A4A68"/>
                </a:solidFill>
                <a:latin typeface="Calibri"/>
              </a:rPr>
              <a:t>List skills you can teach and skills you want to learn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✓  </a:t>
            </a:r>
            <a:r>
              <a:rPr sz="1300">
                <a:solidFill>
                  <a:srgbClr val="4A4A68"/>
                </a:solidFill>
                <a:latin typeface="Calibri"/>
              </a:rPr>
              <a:t>Get automatically matched with complementary learners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✓  </a:t>
            </a:r>
            <a:r>
              <a:rPr sz="1300">
                <a:solidFill>
                  <a:srgbClr val="4A4A68"/>
                </a:solidFill>
                <a:latin typeface="Calibri"/>
              </a:rPr>
              <a:t>Chat in real-time and exchange knowledge freely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1E2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33172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2331720"/>
            <a:ext cx="50800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9" y="2423160"/>
            <a:ext cx="457200" cy="45720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1E2E"/>
                </a:solidFill>
                <a:latin typeface="Calibri"/>
              </a:defRPr>
            </a:pPr>
            <a:r>
              <a:t>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Backend REST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20040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200400"/>
            <a:ext cx="50800" cy="73152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79" y="3291840"/>
            <a:ext cx="457200" cy="45720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310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1E2E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Relational Database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06908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4069080"/>
            <a:ext cx="508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8079" y="4160520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1E2E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142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937760"/>
            <a:ext cx="41148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4937760"/>
            <a:ext cx="508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79" y="5029200"/>
            <a:ext cx="457200" cy="45720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047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1E2E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010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Frontend Logic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46320"/>
            <a:ext cx="10881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937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1️⃣  Register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Create account</a:t>
            </a:r>
            <a:br/>
            <a:r>
              <a:t>via Firebase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440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2️⃣  Add Skills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List teach &amp;</a:t>
            </a:r>
            <a:br/>
            <a:r>
              <a:t>learn skills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5440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3️⃣  Get Matched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Algorithm finds</a:t>
            </a:r>
            <a:br/>
            <a:r>
              <a:t>compatible users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440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4️⃣  Send Request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Connect with</a:t>
            </a:r>
            <a:br/>
            <a:r>
              <a:t>your match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440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5349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5️⃣  Start Learning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Chat and</a:t>
            </a:r>
            <a:br/>
            <a:r>
              <a:t>exchange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Website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Key features of the SkillSwap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3383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93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Registration</a:t>
            </a:r>
            <a:br/>
            <a:r>
              <a:t>&amp;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B3"/>
                </a:solidFill>
                <a:latin typeface="Calibri"/>
              </a:defRPr>
            </a:pPr>
            <a:r>
              <a:t>Secure Firebase Auth</a:t>
            </a:r>
            <a:br/>
            <a:r>
              <a:t>with Email, Google</a:t>
            </a:r>
            <a:br/>
            <a:r>
              <a:t>&amp; GitHub OAuth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737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737360"/>
            <a:ext cx="3383280" cy="381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993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Interactive</a:t>
            </a:r>
            <a:br/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B3"/>
                </a:solidFill>
                <a:latin typeface="Calibri"/>
              </a:defRPr>
            </a:pPr>
            <a:r>
              <a:t>Profile card, stats,</a:t>
            </a:r>
            <a:br/>
            <a:r>
              <a:t>activity feed, and</a:t>
            </a:r>
            <a:br/>
            <a:r>
              <a:t>quick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737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1737360"/>
            <a:ext cx="3383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1965960"/>
            <a:ext cx="502920" cy="50292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993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alibri"/>
              </a:defRPr>
            </a:pPr>
            <a:r>
              <a:t>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Add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B3"/>
                </a:solidFill>
                <a:latin typeface="Calibri"/>
              </a:defRPr>
            </a:pPr>
            <a:r>
              <a:t>Categorize skills as</a:t>
            </a:r>
            <a:br/>
            <a:r>
              <a:t>'Teach' or 'Learn'</a:t>
            </a:r>
            <a:br/>
            <a:r>
              <a:t>for smart matching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023360"/>
            <a:ext cx="3383280" cy="3810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79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06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Smart</a:t>
            </a:r>
            <a:br/>
            <a:r>
              <a:t>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B3"/>
                </a:solidFill>
                <a:latin typeface="Calibri"/>
              </a:defRPr>
            </a:pPr>
            <a:r>
              <a:t>Algorithm pairs users</a:t>
            </a:r>
            <a:br/>
            <a:r>
              <a:t>with complementary</a:t>
            </a:r>
            <a:br/>
            <a:r>
              <a:t>skills automatically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4023360"/>
            <a:ext cx="3383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34840" y="4251960"/>
            <a:ext cx="502920" cy="5029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79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206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Real-Time</a:t>
            </a:r>
            <a:br/>
            <a:r>
              <a:t>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B3"/>
                </a:solidFill>
                <a:latin typeface="Calibri"/>
              </a:defRPr>
            </a:pPr>
            <a:r>
              <a:t>Instant messaging</a:t>
            </a:r>
            <a:br/>
            <a:r>
              <a:t>with swap partners</a:t>
            </a:r>
            <a:br/>
            <a:r>
              <a:t>and file sharing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02336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023360"/>
            <a:ext cx="33832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92440" y="4251960"/>
            <a:ext cx="502920" cy="5029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279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1E2E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206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Live</a:t>
            </a:r>
            <a:br/>
            <a:r>
              <a:t>Notifications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754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9CB3"/>
                </a:solidFill>
                <a:latin typeface="Calibri"/>
              </a:defRPr>
            </a:pPr>
            <a:r>
              <a:t>Real-time alerts for</a:t>
            </a:r>
            <a:br/>
            <a:r>
              <a:t>new requests,</a:t>
            </a:r>
            <a:br/>
            <a:r>
              <a:t>messages &amp;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What we set out to achieve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49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50800" cy="1188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1E2E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3852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Calibri"/>
              </a:defRPr>
            </a:pPr>
            <a:r>
              <a:t>Peer-to-Peer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86000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Calibri"/>
              </a:defRPr>
            </a:pPr>
            <a:r>
              <a:t>Create a platform where users can exchange skills directly, eliminating the need for paid courses or intermediaries.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349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0800" cy="118872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76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1E2E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93852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Calibri"/>
              </a:defRPr>
            </a:pPr>
            <a:r>
              <a:t>Build a Skill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286000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Calibri"/>
              </a:defRPr>
            </a:pPr>
            <a:r>
              <a:t>Foster a collaborative community of learners and teachers who help each other grow through knowledge sharing.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46120"/>
            <a:ext cx="5349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246120"/>
            <a:ext cx="508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593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1E2E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35584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Calibri"/>
              </a:defRPr>
            </a:pPr>
            <a:r>
              <a:t>Real-Time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703320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Calibri"/>
              </a:defRPr>
            </a:pPr>
            <a:r>
              <a:t>Enable instant messaging, live notifications, and real-time status updates for seamless and responsive interaction.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246120"/>
            <a:ext cx="53492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24612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20" y="3566160"/>
            <a:ext cx="548640" cy="5486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593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E1E2E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355848"/>
            <a:ext cx="4251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Calibri"/>
              </a:defRPr>
            </a:pPr>
            <a:r>
              <a:t>User-Friendly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703320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68"/>
                </a:solidFill>
                <a:latin typeface="Calibri"/>
              </a:defRPr>
            </a:pPr>
            <a:r>
              <a:t>Design a modern, responsive, and intuitive UI that provides a premium experience across all devices and screen sizes.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80560"/>
            <a:ext cx="108813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Calibri"/>
              </a:defRPr>
            </a:pPr>
            <a:r>
              <a:t>Key Metrics Targeted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029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63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Free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No cost to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029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63FF"/>
                </a:solidFill>
                <a:latin typeface="Calibri"/>
              </a:defRPr>
            </a:pPr>
            <a:r>
              <a:t>&lt; 2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Setup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Quick registration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029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63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Chat &amp; Alerts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Instant messaging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029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63FF"/>
                </a:solidFill>
                <a:latin typeface="Calibri"/>
              </a:defRPr>
            </a:pPr>
            <a:r>
              <a:t>Smart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440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E2E"/>
                </a:solidFill>
                <a:latin typeface="Calibri"/>
              </a:defRPr>
            </a:pPr>
            <a:r>
              <a:t>Matching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715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Algorithm-powered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Working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Screenshots of the live platform (replace placeholders)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21031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210312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" y="1874520"/>
            <a:ext cx="1883664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51460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9CB3"/>
                </a:solidFill>
                <a:latin typeface="Calibri"/>
              </a:defRPr>
            </a:pPr>
            <a:r>
              <a:t>📷</a:t>
            </a:r>
            <a:br/>
            <a:r>
              <a:t>Insert</a:t>
            </a:r>
            <a:br/>
            <a:r>
              <a:t>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Login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Firebase Auth</a:t>
            </a:r>
            <a:br/>
            <a:r>
              <a:t>Email + OAuth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691640"/>
            <a:ext cx="21031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691640"/>
            <a:ext cx="2103120" cy="508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07208" y="1874520"/>
            <a:ext cx="1883664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7208" y="251460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9CB3"/>
                </a:solidFill>
                <a:latin typeface="Calibri"/>
              </a:defRPr>
            </a:pPr>
            <a:r>
              <a:t>📷</a:t>
            </a:r>
            <a:br/>
            <a:r>
              <a:t>Insert</a:t>
            </a:r>
            <a:br/>
            <a:r>
              <a:t>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709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Profile &amp; Stats</a:t>
            </a:r>
            <a:br/>
            <a:r>
              <a:t>Activity Feed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691640"/>
            <a:ext cx="21031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1691640"/>
            <a:ext cx="21031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93208" y="1874520"/>
            <a:ext cx="1883664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251460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9CB3"/>
                </a:solidFill>
                <a:latin typeface="Calibri"/>
              </a:defRPr>
            </a:pPr>
            <a:r>
              <a:t>📷</a:t>
            </a:r>
            <a:br/>
            <a:r>
              <a:t>Insert</a:t>
            </a:r>
            <a:br/>
            <a:r>
              <a:t>Screenshot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Skill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709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Smart Algorithm</a:t>
            </a:r>
            <a:br/>
            <a:r>
              <a:t>Matching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1691640"/>
            <a:ext cx="21031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1691640"/>
            <a:ext cx="21031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9208" y="1874520"/>
            <a:ext cx="1883664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8" y="251460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9CB3"/>
                </a:solidFill>
                <a:latin typeface="Calibri"/>
              </a:defRPr>
            </a:pPr>
            <a:r>
              <a:t>📷</a:t>
            </a:r>
            <a:br/>
            <a:r>
              <a:t>Insert</a:t>
            </a:r>
            <a:br/>
            <a:r>
              <a:t>Screenshot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Chat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709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Real-Time</a:t>
            </a:r>
            <a:br/>
            <a:r>
              <a:t>Messaging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1691640"/>
            <a:ext cx="21031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55480" y="1691640"/>
            <a:ext cx="2103120" cy="5080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65208" y="1874520"/>
            <a:ext cx="1883664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8" y="251460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9CB3"/>
                </a:solidFill>
                <a:latin typeface="Calibri"/>
              </a:defRPr>
            </a:pPr>
            <a:r>
              <a:t>📷</a:t>
            </a:r>
            <a:br/>
            <a:r>
              <a:t>Insert</a:t>
            </a:r>
            <a:br/>
            <a:r>
              <a:t>Screenshot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1E2E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709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9CB3"/>
                </a:solidFill>
                <a:latin typeface="Calibri"/>
              </a:defRPr>
            </a:pPr>
            <a:r>
              <a:t>Accept / Reject</a:t>
            </a:r>
            <a:br/>
            <a:r>
              <a:t>Swap Requests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5806440"/>
            <a:ext cx="8503920" cy="457200"/>
          </a:xfrm>
          <a:prstGeom prst="round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58338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44CE"/>
                </a:solidFill>
                <a:latin typeface="Calibri"/>
              </a:defRPr>
            </a:pPr>
            <a:r>
              <a:t>🌐  Live project hosted on InfinityFree  —  Replace placeholders with actual screenshots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MySQL tables powering SkillSwap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26060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470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28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firebase_uid  •  name</a:t>
            </a:r>
            <a:br/>
            <a:r>
              <a:t>email  •  is_online  •  last_seen</a:t>
            </a:r>
            <a:br/>
            <a:r>
              <a:t>created_at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645920"/>
            <a:ext cx="2606040" cy="381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29000" y="1828800"/>
            <a:ext cx="365760" cy="3657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8470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1828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name</a:t>
            </a:r>
            <a:br/>
            <a:r>
              <a:t>created_at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1645920"/>
            <a:ext cx="26060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8470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828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user_skills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user_id  •  skill_id</a:t>
            </a:r>
            <a:br/>
            <a:r>
              <a:t>type (teach / learn)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1645920"/>
            <a:ext cx="26060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06840" y="1828800"/>
            <a:ext cx="365760" cy="36576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8470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1828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skill_requests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317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sender_id  •  receiver_id</a:t>
            </a:r>
            <a:br/>
            <a:r>
              <a:t>message  •  status  •  created_at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74904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749040"/>
            <a:ext cx="2606040" cy="3810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9319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34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sender_id  •  receiver_id</a:t>
            </a:r>
            <a:br/>
            <a:r>
              <a:t>message  •  created_at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374904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3749040"/>
            <a:ext cx="26060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29000" y="3931920"/>
            <a:ext cx="365760" cy="36576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9319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4434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user_id  •  type</a:t>
            </a:r>
            <a:br/>
            <a:r>
              <a:t>message  •  is_read  •  created_at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374904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3749040"/>
            <a:ext cx="2606040" cy="381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17920" y="3931920"/>
            <a:ext cx="365760" cy="3657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39319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434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id  •  reviewer_id  •  reviewed_id</a:t>
            </a:r>
            <a:br/>
            <a:r>
              <a:t>rating  •  comment  •  tags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3749040"/>
            <a:ext cx="26060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69680" y="3749040"/>
            <a:ext cx="2606040" cy="3810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006840" y="3931920"/>
            <a:ext cx="365760" cy="365760"/>
          </a:xfrm>
          <a:prstGeom prst="ellipse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1E2E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393192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1E2E"/>
                </a:solidFill>
                <a:latin typeface="Calibri"/>
              </a:defRPr>
            </a:pPr>
            <a:r>
              <a:t>blocked_users</a:t>
            </a:r>
            <a:br/>
            <a:r>
              <a:t>&amp; reports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44348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9CB3"/>
                </a:solidFill>
                <a:latin typeface="Calibri"/>
              </a:defRPr>
            </a:pPr>
            <a:r>
              <a:t>blocker_id  •  blocked_id</a:t>
            </a:r>
            <a:br/>
            <a:r>
              <a:t>reporter_id  •  reason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760720"/>
            <a:ext cx="11155680" cy="502920"/>
          </a:xfrm>
          <a:prstGeom prst="round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44CE"/>
                </a:solidFill>
                <a:latin typeface="Calibri"/>
              </a:defRPr>
            </a:pPr>
            <a:r>
              <a:t>🔗  All tables use foreign keys referencing users.id  •  user_skills links users ↔ skills  •  Normalized 3NF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Entity Relationship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Visual representation of database relationships</a:t>
            </a:r>
          </a:p>
        </p:txBody>
      </p:sp>
      <p:sp>
        <p:nvSpPr>
          <p:cNvPr id="8" name="Oval 7"/>
          <p:cNvSpPr/>
          <p:nvPr/>
        </p:nvSpPr>
        <p:spPr>
          <a:xfrm>
            <a:off x="4983480" y="2697480"/>
            <a:ext cx="1188720" cy="11887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3190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0" name="Oval 9"/>
          <p:cNvSpPr/>
          <p:nvPr/>
        </p:nvSpPr>
        <p:spPr>
          <a:xfrm>
            <a:off x="1623060" y="1805940"/>
            <a:ext cx="960120" cy="9601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3060" y="21844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12" name="Oval 11"/>
          <p:cNvSpPr/>
          <p:nvPr/>
        </p:nvSpPr>
        <p:spPr>
          <a:xfrm>
            <a:off x="8572500" y="1805940"/>
            <a:ext cx="960120" cy="960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500" y="21844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14" name="Oval 13"/>
          <p:cNvSpPr/>
          <p:nvPr/>
        </p:nvSpPr>
        <p:spPr>
          <a:xfrm>
            <a:off x="8572500" y="4091940"/>
            <a:ext cx="960120" cy="960120"/>
          </a:xfrm>
          <a:prstGeom prst="ellipse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0" y="44704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16" name="Oval 15"/>
          <p:cNvSpPr/>
          <p:nvPr/>
        </p:nvSpPr>
        <p:spPr>
          <a:xfrm>
            <a:off x="1623060" y="4091940"/>
            <a:ext cx="960120" cy="96012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3060" y="44704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5097780" y="5372100"/>
            <a:ext cx="960120" cy="9601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7780" y="57505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450592"/>
            <a:ext cx="1371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9CB3"/>
                </a:solidFill>
                <a:latin typeface="Calibri"/>
              </a:defRPr>
            </a:pPr>
            <a:r>
              <a:t>has many 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450592"/>
            <a:ext cx="1371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468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9CB3"/>
                </a:solidFill>
                <a:latin typeface="Calibri"/>
              </a:defRPr>
            </a:pPr>
            <a:r>
              <a:t>sends / receives 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187952"/>
            <a:ext cx="1371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9CB3"/>
                </a:solidFill>
                <a:latin typeface="Calibri"/>
              </a:defRPr>
            </a:pPr>
            <a:r>
              <a:t>exchanges 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87952"/>
            <a:ext cx="1371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206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9CB3"/>
                </a:solidFill>
                <a:latin typeface="Calibri"/>
              </a:defRPr>
            </a:pPr>
            <a:r>
              <a:t>receives 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553712"/>
            <a:ext cx="137160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9CB3"/>
                </a:solidFill>
                <a:latin typeface="Calibri"/>
              </a:defRPr>
            </a:pPr>
            <a:r>
              <a:t>gets 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424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4A68"/>
                </a:solidFill>
                <a:latin typeface="Calibri"/>
              </a:defRPr>
            </a:pPr>
            <a:r>
              <a:t>Users ↔ Skills (via user_skills M:N)   •   Users → Requests → Users (sender/receiver)   •   Users ↔ Chat (bidirectional)   •   Users → Reviews → Users   •   Users ←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Hosting &amp;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How SkillSwap is deployed for live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3035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Calibri"/>
              </a:defRPr>
            </a:pPr>
            <a:r>
              <a:t>🌐  InfinityFree Hosting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774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✓  </a:t>
            </a:r>
            <a:r>
              <a:rPr sz="1400">
                <a:solidFill>
                  <a:srgbClr val="4A4A68"/>
                </a:solidFill>
                <a:latin typeface="Calibri"/>
              </a:rPr>
              <a:t>Free web hosting with PHP 8.x + MySQL support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✓  </a:t>
            </a:r>
            <a:r>
              <a:rPr sz="1400">
                <a:solidFill>
                  <a:srgbClr val="4A4A68"/>
                </a:solidFill>
                <a:latin typeface="Calibri"/>
              </a:rPr>
              <a:t>phpMyAdmin for database management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✓  </a:t>
            </a:r>
            <a:r>
              <a:rPr sz="1400">
                <a:solidFill>
                  <a:srgbClr val="4A4A68"/>
                </a:solidFill>
                <a:latin typeface="Calibri"/>
              </a:rPr>
              <a:t>Custom subdomain automatically provided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✓  </a:t>
            </a:r>
            <a:r>
              <a:rPr sz="1400">
                <a:solidFill>
                  <a:srgbClr val="4A4A68"/>
                </a:solidFill>
                <a:latin typeface="Calibri"/>
              </a:rPr>
              <a:t>5 GB storage with unlimited bandwidth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✓  </a:t>
            </a:r>
            <a:r>
              <a:rPr sz="1400">
                <a:solidFill>
                  <a:srgbClr val="4A4A68"/>
                </a:solidFill>
                <a:latin typeface="Calibri"/>
              </a:rPr>
              <a:t>SSL certificate for secure HTTPS connections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0B981"/>
                </a:solidFill>
                <a:latin typeface="Calibri"/>
              </a:rPr>
              <a:t>✓  </a:t>
            </a:r>
            <a:r>
              <a:rPr sz="1400">
                <a:solidFill>
                  <a:srgbClr val="4A4A68"/>
                </a:solidFill>
                <a:latin typeface="Calibri"/>
              </a:rPr>
              <a:t>cPanel file manager for easy uploads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53035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2E"/>
                </a:solidFill>
                <a:latin typeface="Calibri"/>
              </a:defRPr>
            </a:pPr>
            <a:r>
              <a:t>🏗️  Architecture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377440"/>
            <a:ext cx="1828800" cy="381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4846320" cy="640080"/>
          </a:xfrm>
          <a:prstGeom prst="roundRect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606040"/>
            <a:ext cx="50800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HTML • CSS • 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B3"/>
                </a:solidFill>
                <a:latin typeface="Calibri"/>
              </a:defRPr>
            </a:pPr>
            <a:r>
              <a:t>Served by InfinityFree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CB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383280"/>
            <a:ext cx="4846320" cy="640080"/>
          </a:xfrm>
          <a:prstGeom prst="roundRect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383280"/>
            <a:ext cx="50800" cy="64008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PHP REST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B3"/>
                </a:solidFill>
                <a:latin typeface="Calibri"/>
              </a:defRPr>
            </a:pPr>
            <a:r>
              <a:t>28 API files on InfinityFree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CB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160520"/>
            <a:ext cx="4846320" cy="640080"/>
          </a:xfrm>
          <a:prstGeom prst="roundRect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4160520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MySQL (skillswap_new)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B3"/>
                </a:solidFill>
                <a:latin typeface="Calibri"/>
              </a:defRPr>
            </a:pPr>
            <a:r>
              <a:t>Managed via phpMyAdmin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709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CB3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937760"/>
            <a:ext cx="4846320" cy="6400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4937760"/>
            <a:ext cx="508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Firebase 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9CB3"/>
                </a:solidFill>
                <a:latin typeface="Calibri"/>
              </a:defRPr>
            </a:pPr>
            <a:r>
              <a:t>Google Cloud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Problems encountered during development and their solutions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50800" cy="82296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029968"/>
            <a:ext cx="411480" cy="411480"/>
          </a:xfrm>
          <a:prstGeom prst="ellipse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482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1E2E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MySQL Connection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9019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Schema mismatches caused 500 errors across all 28 API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019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alibri"/>
              </a:defRPr>
            </a:pPr>
            <a:r>
              <a:t>✅ Audited all PHP files and rebuilt the complete database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61488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61488"/>
            <a:ext cx="508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2962656"/>
            <a:ext cx="411480" cy="4114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809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1E2E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InfinityFree Restrictions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834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Hosting limits on file size, execution time, and MySQL connections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834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alibri"/>
              </a:defRPr>
            </a:pPr>
            <a:r>
              <a:t>✅ Optimized queries and reduced API response payloads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94176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94176"/>
            <a:ext cx="508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3895344"/>
            <a:ext cx="411480" cy="41148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9136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1E2E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767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Firebase Domain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7673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Firebase blocked requests from the InfinityFree hosting 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7673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alibri"/>
              </a:defRPr>
            </a:pPr>
            <a:r>
              <a:t>✅ Added hosting domain to Firebase authorized origins 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26864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626864"/>
            <a:ext cx="50800" cy="82296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4828032"/>
            <a:ext cx="411480" cy="41148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1E2E"/>
                </a:solidFill>
                <a:latin typeface="Calibri"/>
              </a:defRPr>
            </a:pPr>
            <a:r>
              <a:t>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API Errors (500, 404)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470001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Missing tables and broken foreign keys crashed backend responses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70001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alibri"/>
              </a:defRPr>
            </a:pPr>
            <a:r>
              <a:t>✅ Implemented global JSON error handler with set_exception_handler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59552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559552"/>
            <a:ext cx="50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5760720"/>
            <a:ext cx="411480" cy="41148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779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1E2E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632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1E2E"/>
                </a:solidFill>
                <a:latin typeface="Calibri"/>
              </a:defRPr>
            </a:pPr>
            <a:r>
              <a:t>Real-Time Sync Issues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563270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68"/>
                </a:solidFill>
                <a:latin typeface="Calibri"/>
              </a:defRPr>
            </a:pPr>
            <a:r>
              <a:t>Notification polling and chat updates were inconsistent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63270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Calibri"/>
              </a:defRPr>
            </a:pPr>
            <a:r>
              <a:t>✅ Implemented 5-second polling heartbeat with smart caching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Planned features and improvements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20116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1965960"/>
            <a:ext cx="640080" cy="64008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1E2E"/>
                </a:solidFill>
                <a:latin typeface="Calibri"/>
              </a:defRPr>
            </a:pPr>
            <a:r>
              <a:t>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E2E"/>
                </a:solidFill>
                <a:latin typeface="Calibri"/>
              </a:defRPr>
            </a:pPr>
            <a:r>
              <a:t>Video Calling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9CB3"/>
                </a:solidFill>
                <a:latin typeface="Calibri"/>
              </a:defRPr>
            </a:pPr>
            <a:r>
              <a:t>Built-in video calls</a:t>
            </a:r>
            <a:br/>
            <a:r>
              <a:t>for live skill exchange</a:t>
            </a:r>
            <a:br/>
            <a:r>
              <a:t>lessons between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1737360"/>
            <a:ext cx="2011680" cy="38100"/>
          </a:xfrm>
          <a:prstGeom prst="rect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0440" y="1965960"/>
            <a:ext cx="640080" cy="64008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1E2E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E2E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200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9CB3"/>
                </a:solidFill>
                <a:latin typeface="Calibri"/>
              </a:defRPr>
            </a:pPr>
            <a:r>
              <a:t>Machine learning</a:t>
            </a:r>
            <a:br/>
            <a:r>
              <a:t>algorithm to improve</a:t>
            </a:r>
            <a:br/>
            <a:r>
              <a:t>skill compatibility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173736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0" y="1965960"/>
            <a:ext cx="640080" cy="640080"/>
          </a:xfrm>
          <a:prstGeom prst="ellipse">
            <a:avLst/>
          </a:prstGeom>
          <a:solidFill>
            <a:srgbClr val="E6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1E2E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E2E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200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9CB3"/>
                </a:solidFill>
                <a:latin typeface="Calibri"/>
              </a:defRPr>
            </a:pPr>
            <a:r>
              <a:t>Native Android &amp;</a:t>
            </a:r>
            <a:br/>
            <a:r>
              <a:t>iOS app using</a:t>
            </a:r>
            <a:br/>
            <a:r>
              <a:t>React Native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73736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01000" y="1965960"/>
            <a:ext cx="640080" cy="6400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1E2E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E2E"/>
                </a:solidFill>
                <a:latin typeface="Calibri"/>
              </a:defRPr>
            </a:pPr>
            <a:r>
              <a:t>Better UI/UX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200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9CB3"/>
                </a:solidFill>
                <a:latin typeface="Calibri"/>
              </a:defRPr>
            </a:pPr>
            <a:r>
              <a:t>Advanced animations,</a:t>
            </a:r>
            <a:br/>
            <a:r>
              <a:t>accessibility, and</a:t>
            </a:r>
            <a:br/>
            <a:r>
              <a:t>multi-language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55480" y="1737360"/>
            <a:ext cx="2011680" cy="38100"/>
          </a:xfrm>
          <a:prstGeom prst="rect">
            <a:avLst/>
          </a:prstGeom>
          <a:solidFill>
            <a:srgbClr val="EF44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41280" y="1965960"/>
            <a:ext cx="640080" cy="640080"/>
          </a:xfrm>
          <a:prstGeom prst="ellipse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1E2E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E2E"/>
                </a:solidFill>
                <a:latin typeface="Calibri"/>
              </a:defRPr>
            </a:pPr>
            <a:r>
              <a:t>Premium Tier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3200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9CB3"/>
                </a:solidFill>
                <a:latin typeface="Calibri"/>
              </a:defRPr>
            </a:pPr>
            <a:r>
              <a:t>Optional payment for</a:t>
            </a:r>
            <a:br/>
            <a:r>
              <a:t>priority matching and</a:t>
            </a:r>
            <a:br/>
            <a:r>
              <a:t>verified badges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02920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63FF"/>
                </a:solidFill>
                <a:latin typeface="Calibri"/>
              </a:defRPr>
            </a:pPr>
            <a:r>
              <a:t>📅  Development Roadmap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486400"/>
            <a:ext cx="2194560" cy="502920"/>
          </a:xfrm>
          <a:prstGeom prst="roundRect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3000" y="5559552"/>
            <a:ext cx="320040" cy="3200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577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5046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Phase 1: Video Calling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49040" y="5486400"/>
            <a:ext cx="2194560" cy="502920"/>
          </a:xfrm>
          <a:prstGeom prst="roundRect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94760" y="5559552"/>
            <a:ext cx="320040" cy="320040"/>
          </a:xfrm>
          <a:prstGeom prst="ellipse">
            <a:avLst/>
          </a:prstGeom>
          <a:solidFill>
            <a:srgbClr val="35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60" y="5577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5046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Phase 2: AI Matching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486400"/>
            <a:ext cx="2194560" cy="502920"/>
          </a:xfrm>
          <a:prstGeom prst="roundRect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46520" y="5559552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577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5046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Phase 3: Mobile App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52560" y="5486400"/>
            <a:ext cx="2194560" cy="502920"/>
          </a:xfrm>
          <a:prstGeom prst="roundRect">
            <a:avLst/>
          </a:prstGeom>
          <a:solidFill>
            <a:srgbClr val="F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098280" y="555955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5577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55046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1E2E"/>
                </a:solidFill>
                <a:latin typeface="Calibri"/>
              </a:defRPr>
            </a:pPr>
            <a:r>
              <a:t>Phase 4: Premium Tier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640080"/>
            <a:ext cx="2560320" cy="2560320"/>
          </a:xfrm>
          <a:prstGeom prst="ellipse">
            <a:avLst/>
          </a:prstGeom>
          <a:solidFill>
            <a:srgbClr val="ED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212080"/>
            <a:ext cx="2194560" cy="2194560"/>
          </a:xfrm>
          <a:prstGeom prst="ellipse">
            <a:avLst/>
          </a:prstGeom>
          <a:solidFill>
            <a:srgbClr val="E8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02920"/>
            <a:ext cx="54864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051560"/>
            <a:ext cx="164592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9CB3"/>
                </a:solidFill>
                <a:latin typeface="Calibri"/>
              </a:defRPr>
            </a:pPr>
            <a:r>
              <a:t>Summary and key takeaways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8813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✦  </a:t>
            </a:r>
            <a:r>
              <a:rPr sz="1500">
                <a:solidFill>
                  <a:srgbClr val="4A4A68"/>
                </a:solidFill>
                <a:latin typeface="Calibri"/>
              </a:rPr>
              <a:t>SkillSwap successfully connects learners and teachers on a single, unified platform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✦  </a:t>
            </a:r>
            <a:r>
              <a:rPr sz="1500">
                <a:solidFill>
                  <a:srgbClr val="4A4A68"/>
                </a:solidFill>
                <a:latin typeface="Calibri"/>
              </a:rPr>
              <a:t>Provides real-time interaction through chat, notifications, and intelligent skill matching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✦  </a:t>
            </a:r>
            <a:r>
              <a:rPr sz="1500">
                <a:solidFill>
                  <a:srgbClr val="4A4A68"/>
                </a:solidFill>
                <a:latin typeface="Calibri"/>
              </a:rPr>
              <a:t>Built with a modern, production-ready tech stack — PHP, MySQL, Firebase, JavaScript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✦  </a:t>
            </a:r>
            <a:r>
              <a:rPr sz="1500">
                <a:solidFill>
                  <a:srgbClr val="4A4A68"/>
                </a:solidFill>
                <a:latin typeface="Calibri"/>
              </a:rPr>
              <a:t>Designed to be useful for students, professionals, and lifelong learners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✦  </a:t>
            </a:r>
            <a:r>
              <a:rPr sz="1500">
                <a:solidFill>
                  <a:srgbClr val="4A4A68"/>
                </a:solidFill>
                <a:latin typeface="Calibri"/>
              </a:rPr>
              <a:t>Fully deployed and tested on InfinityFree hosting with phpMyAdmin database management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6C63FF"/>
                </a:solidFill>
                <a:latin typeface="Calibri"/>
              </a:rPr>
              <a:t>✦  </a:t>
            </a:r>
            <a:r>
              <a:rPr sz="1500">
                <a:solidFill>
                  <a:srgbClr val="4A4A68"/>
                </a:solidFill>
                <a:latin typeface="Calibri"/>
              </a:rPr>
              <a:t>Scalable architecture ready for future enhancements including video calling and AI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📚  Learning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Full-stack web development with PHP &amp; MySQL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Firebase Authentication integration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REST API design and implementation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0B981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Database schema design and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8920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🌍  Real-World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57ABD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Democratizes skill-sharing for all backgrounds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57ABD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Reduces dependency on expensive learning platforms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57ABD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Builds collaborative professional networks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57ABD"/>
                </a:solidFill>
                <a:latin typeface="Calibri"/>
              </a:rPr>
              <a:t>•  </a:t>
            </a:r>
            <a:r>
              <a:rPr sz="1100">
                <a:solidFill>
                  <a:srgbClr val="4A4A68"/>
                </a:solidFill>
                <a:latin typeface="Calibri"/>
              </a:rPr>
              <a:t>Promotes lifelong learning culture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731520"/>
            <a:ext cx="3657600" cy="3657600"/>
          </a:xfrm>
          <a:prstGeom prst="ellipse">
            <a:avLst/>
          </a:prstGeom>
          <a:solidFill>
            <a:srgbClr val="7B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2011680"/>
            <a:ext cx="2743200" cy="2743200"/>
          </a:xfrm>
          <a:prstGeom prst="ellipse">
            <a:avLst/>
          </a:prstGeom>
          <a:solidFill>
            <a:srgbClr val="5B5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DDFF"/>
                </a:solidFill>
                <a:latin typeface="Calibri"/>
              </a:defRPr>
            </a:pPr>
            <a:r>
              <a:t>SkillSwap — A Skill Exchange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2926080"/>
            <a:ext cx="155448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200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0CD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CB3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C63FF"/>
                </a:solidFill>
                <a:latin typeface="Calibri"/>
              </a:defRPr>
            </a:pPr>
            <a:r>
              <a:t>Manan Tote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CB3"/>
                </a:solidFill>
                <a:latin typeface="Calibri"/>
              </a:defRPr>
            </a:pPr>
            <a:r>
              <a:t>Computer Engineering  •  Final Year Project  •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gradFill rotWithShape="1">
            <a:gsLst>
              <a:gs pos="0">
                <a:srgbClr val="6C63FF"/>
              </a:gs>
              <a:gs pos="100000">
                <a:srgbClr val="A78B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